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64592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7160"/>
            <a:ext cx="5212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  <a:latin typeface="Arial"/>
              </a:rPr>
              <a:t>Matched liver normal–tumor 5mC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2834640"/>
            <a:ext cx="434340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68680" y="685800"/>
            <a:ext cx="0" cy="214884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32103" y="2834640"/>
            <a:ext cx="36577" cy="0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9768" y="2734056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 i="0">
                <a:solidFill>
                  <a:srgbClr val="2D2D2D"/>
                </a:solidFill>
                <a:latin typeface="Arial"/>
              </a:rPr>
              <a:t>30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2834640"/>
            <a:ext cx="4343400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32103" y="2297430"/>
            <a:ext cx="36577" cy="0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9768" y="2196846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 i="0">
                <a:solidFill>
                  <a:srgbClr val="2D2D2D"/>
                </a:solidFill>
                <a:latin typeface="Arial"/>
              </a:rPr>
              <a:t>40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2297430"/>
            <a:ext cx="4343400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32103" y="1760220"/>
            <a:ext cx="36577" cy="0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9768" y="1659636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 i="0">
                <a:solidFill>
                  <a:srgbClr val="2D2D2D"/>
                </a:solidFill>
                <a:latin typeface="Arial"/>
              </a:rPr>
              <a:t>50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" y="1760220"/>
            <a:ext cx="4343400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32103" y="1223010"/>
            <a:ext cx="36577" cy="0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9768" y="1122425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 i="0">
                <a:solidFill>
                  <a:srgbClr val="2D2D2D"/>
                </a:solidFill>
                <a:latin typeface="Arial"/>
              </a:rPr>
              <a:t>60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8680" y="1223010"/>
            <a:ext cx="4343400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32103" y="685800"/>
            <a:ext cx="36577" cy="0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9768" y="585216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 i="0">
                <a:solidFill>
                  <a:srgbClr val="2D2D2D"/>
                </a:solidFill>
                <a:latin typeface="Arial"/>
              </a:rPr>
              <a:t>70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8680" y="685800"/>
            <a:ext cx="4343400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68680" y="2834640"/>
            <a:ext cx="0" cy="36576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2880360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2D2D2D"/>
                </a:solidFill>
                <a:latin typeface="Arial"/>
              </a:rPr>
              <a:t>Normal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212080" y="2834640"/>
            <a:ext cx="0" cy="36576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892040" y="2880360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2D2D2D"/>
                </a:solidFill>
                <a:latin typeface="Arial"/>
              </a:rPr>
              <a:t>Tumor</a:t>
            </a:r>
          </a:p>
        </p:txBody>
      </p:sp>
      <p:sp>
        <p:nvSpPr>
          <p:cNvPr id="25" name="TextBox 24"/>
          <p:cNvSpPr txBox="1"/>
          <p:nvPr/>
        </p:nvSpPr>
        <p:spPr>
          <a:xfrm rot="16200000">
            <a:off x="27431" y="1531620"/>
            <a:ext cx="731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0">
                <a:solidFill>
                  <a:srgbClr val="2D2D2D"/>
                </a:solidFill>
                <a:latin typeface="Arial"/>
              </a:rPr>
              <a:t>Mean 5mC (%)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868680" y="1190145"/>
            <a:ext cx="4343400" cy="212557"/>
          </a:xfrm>
          <a:prstGeom prst="line">
            <a:avLst/>
          </a:prstGeom>
          <a:ln w="25400">
            <a:solidFill>
              <a:srgbClr val="366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18387" y="1352410"/>
            <a:ext cx="100584" cy="100584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61788" y="1139853"/>
            <a:ext cx="100584" cy="100584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85232" y="934113"/>
            <a:ext cx="71323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 i="0">
                <a:solidFill>
                  <a:srgbClr val="3668A4"/>
                </a:solidFill>
                <a:latin typeface="Arial"/>
              </a:rPr>
              <a:t>P1 +4.0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8680" y="1403377"/>
            <a:ext cx="4343400" cy="954170"/>
          </a:xfrm>
          <a:prstGeom prst="line">
            <a:avLst/>
          </a:prstGeom>
          <a:ln w="25400">
            <a:solidFill>
              <a:srgbClr val="C0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18387" y="1353085"/>
            <a:ext cx="100584" cy="100584"/>
          </a:xfrm>
          <a:prstGeom prst="ellipse">
            <a:avLst/>
          </a:prstGeom>
          <a:solidFill>
            <a:srgbClr val="C0504D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61788" y="2307255"/>
            <a:ext cx="100584" cy="100584"/>
          </a:xfrm>
          <a:prstGeom prst="ellipse">
            <a:avLst/>
          </a:prstGeom>
          <a:solidFill>
            <a:srgbClr val="C0504D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2467275"/>
            <a:ext cx="71323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 i="0">
                <a:solidFill>
                  <a:srgbClr val="C0504D"/>
                </a:solidFill>
                <a:latin typeface="Arial"/>
              </a:rPr>
              <a:t>P2 -17.8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868680" y="1174421"/>
            <a:ext cx="4343400" cy="135007"/>
          </a:xfrm>
          <a:prstGeom prst="line">
            <a:avLst/>
          </a:prstGeom>
          <a:ln w="25400">
            <a:solidFill>
              <a:srgbClr val="769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818387" y="1259136"/>
            <a:ext cx="100584" cy="100584"/>
          </a:xfrm>
          <a:prstGeom prst="ellipse">
            <a:avLst/>
          </a:prstGeom>
          <a:solidFill>
            <a:srgbClr val="76923C"/>
          </a:solidFill>
          <a:ln>
            <a:solidFill>
              <a:srgbClr val="76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61788" y="1124129"/>
            <a:ext cx="100584" cy="100584"/>
          </a:xfrm>
          <a:prstGeom prst="ellipse">
            <a:avLst/>
          </a:prstGeom>
          <a:solidFill>
            <a:srgbClr val="76923C"/>
          </a:solidFill>
          <a:ln>
            <a:solidFill>
              <a:srgbClr val="76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85232" y="1192709"/>
            <a:ext cx="71323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 i="0">
                <a:solidFill>
                  <a:srgbClr val="76923C"/>
                </a:solidFill>
                <a:latin typeface="Arial"/>
              </a:rPr>
              <a:t>P3 +2.5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68680" y="1249748"/>
            <a:ext cx="4343400" cy="899150"/>
          </a:xfrm>
          <a:prstGeom prst="line">
            <a:avLst/>
          </a:prstGeom>
          <a:ln w="25400">
            <a:solidFill>
              <a:srgbClr val="8064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18387" y="1199456"/>
            <a:ext cx="100584" cy="100584"/>
          </a:xfrm>
          <a:prstGeom prst="ellipse">
            <a:avLst/>
          </a:prstGeom>
          <a:solidFill>
            <a:srgbClr val="8064A2"/>
          </a:solidFill>
          <a:ln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161788" y="2098606"/>
            <a:ext cx="100584" cy="100584"/>
          </a:xfrm>
          <a:prstGeom prst="ellipse">
            <a:avLst/>
          </a:prstGeom>
          <a:solidFill>
            <a:srgbClr val="8064A2"/>
          </a:solidFill>
          <a:ln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85232" y="1984306"/>
            <a:ext cx="71323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 i="0">
                <a:solidFill>
                  <a:srgbClr val="8064A2"/>
                </a:solidFill>
                <a:latin typeface="Arial"/>
              </a:rPr>
              <a:t>P4 -16.7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164592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Arial"/>
              </a:rPr>
              <a:t>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137160"/>
            <a:ext cx="5394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  <a:latin typeface="Arial"/>
              </a:rPr>
              <a:t>Normal–tumor conservation of the 256-context hierarchy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492240" y="2834640"/>
            <a:ext cx="434340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492240" y="685800"/>
            <a:ext cx="0" cy="214884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455664" y="2834640"/>
            <a:ext cx="36576" cy="0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053327" y="2734056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 i="0">
                <a:solidFill>
                  <a:srgbClr val="2D2D2D"/>
                </a:solidFill>
                <a:latin typeface="Arial"/>
              </a:rPr>
              <a:t>0.7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492240" y="2834640"/>
            <a:ext cx="4343400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455664" y="2118359"/>
            <a:ext cx="36576" cy="0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053327" y="2017775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 i="0">
                <a:solidFill>
                  <a:srgbClr val="2D2D2D"/>
                </a:solidFill>
                <a:latin typeface="Arial"/>
              </a:rPr>
              <a:t>0.8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492240" y="2118359"/>
            <a:ext cx="4343400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455664" y="1402080"/>
            <a:ext cx="36576" cy="0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053327" y="1301495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 i="0">
                <a:solidFill>
                  <a:srgbClr val="2D2D2D"/>
                </a:solidFill>
                <a:latin typeface="Arial"/>
              </a:rPr>
              <a:t>0.9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492240" y="1402080"/>
            <a:ext cx="4343400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455664" y="685800"/>
            <a:ext cx="36576" cy="0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053327" y="585216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 i="0">
                <a:solidFill>
                  <a:srgbClr val="2D2D2D"/>
                </a:solidFill>
                <a:latin typeface="Arial"/>
              </a:rPr>
              <a:t>1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492240" y="685800"/>
            <a:ext cx="4343400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035165" y="2834640"/>
            <a:ext cx="0" cy="36576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715125" y="2880360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2D2D2D"/>
                </a:solidFill>
                <a:latin typeface="Arial"/>
              </a:rPr>
              <a:t>P1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121015" y="2834640"/>
            <a:ext cx="0" cy="36576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800975" y="2880360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2D2D2D"/>
                </a:solidFill>
                <a:latin typeface="Arial"/>
              </a:rPr>
              <a:t>P2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9206865" y="2834640"/>
            <a:ext cx="0" cy="36576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8886825" y="2880360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2D2D2D"/>
                </a:solidFill>
                <a:latin typeface="Arial"/>
              </a:rPr>
              <a:t>P3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0292715" y="2834640"/>
            <a:ext cx="0" cy="36576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9972675" y="2880360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2D2D2D"/>
                </a:solidFill>
                <a:latin typeface="Arial"/>
              </a:rPr>
              <a:t>P4</a:t>
            </a:r>
          </a:p>
        </p:txBody>
      </p:sp>
      <p:sp>
        <p:nvSpPr>
          <p:cNvPr id="66" name="TextBox 65"/>
          <p:cNvSpPr txBox="1"/>
          <p:nvPr/>
        </p:nvSpPr>
        <p:spPr>
          <a:xfrm rot="16200000">
            <a:off x="5650992" y="1531620"/>
            <a:ext cx="731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0">
                <a:solidFill>
                  <a:srgbClr val="2D2D2D"/>
                </a:solidFill>
                <a:latin typeface="Arial"/>
              </a:rPr>
              <a:t>Spearman ρ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33997" y="827116"/>
            <a:ext cx="402336" cy="2007523"/>
          </a:xfrm>
          <a:prstGeom prst="rect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15125" y="580228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3668A4"/>
                </a:solidFill>
                <a:latin typeface="Arial"/>
              </a:rPr>
              <a:t>0.98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919846" y="2281604"/>
            <a:ext cx="402336" cy="553035"/>
          </a:xfrm>
          <a:prstGeom prst="rect">
            <a:avLst/>
          </a:prstGeom>
          <a:solidFill>
            <a:srgbClr val="C0504D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800975" y="2034716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C0504D"/>
                </a:solidFill>
                <a:latin typeface="Arial"/>
              </a:rPr>
              <a:t>0.78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005697" y="788404"/>
            <a:ext cx="402336" cy="2046235"/>
          </a:xfrm>
          <a:prstGeom prst="rect">
            <a:avLst/>
          </a:prstGeom>
          <a:solidFill>
            <a:srgbClr val="76923C"/>
          </a:solidFill>
          <a:ln>
            <a:solidFill>
              <a:srgbClr val="76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886825" y="541516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76923C"/>
                </a:solidFill>
                <a:latin typeface="Arial"/>
              </a:rPr>
              <a:t>0.99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091547" y="1623612"/>
            <a:ext cx="402336" cy="1211027"/>
          </a:xfrm>
          <a:prstGeom prst="rect">
            <a:avLst/>
          </a:prstGeom>
          <a:solidFill>
            <a:srgbClr val="8064A2"/>
          </a:solidFill>
          <a:ln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972675" y="1376724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8064A2"/>
                </a:solidFill>
                <a:latin typeface="Arial"/>
              </a:rPr>
              <a:t>0.87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8600" y="3401568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Arial"/>
              </a:rPr>
              <a:t>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6928" y="3374136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  <a:latin typeface="Arial"/>
              </a:rPr>
              <a:t>Adjusted tumor × NNCGNN interaction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868680" y="6062472"/>
            <a:ext cx="434340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68680" y="3913632"/>
            <a:ext cx="0" cy="214884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32103" y="6062472"/>
            <a:ext cx="36577" cy="0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429768" y="5961888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 i="0">
                <a:solidFill>
                  <a:srgbClr val="2D2D2D"/>
                </a:solidFill>
                <a:latin typeface="Arial"/>
              </a:rPr>
              <a:t>-0.4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868680" y="6062472"/>
            <a:ext cx="4343400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32103" y="5653169"/>
            <a:ext cx="36577" cy="0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429768" y="5552585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 i="0">
                <a:solidFill>
                  <a:srgbClr val="2D2D2D"/>
                </a:solidFill>
                <a:latin typeface="Arial"/>
              </a:rPr>
              <a:t>-0.2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868680" y="5653169"/>
            <a:ext cx="4343400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32103" y="5243866"/>
            <a:ext cx="36577" cy="0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429768" y="5143282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 i="0">
                <a:solidFill>
                  <a:srgbClr val="2D2D2D"/>
                </a:solidFill>
                <a:latin typeface="Arial"/>
              </a:rPr>
              <a:t>0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868680" y="5243866"/>
            <a:ext cx="4343400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32103" y="4834563"/>
            <a:ext cx="36577" cy="0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429768" y="4733979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 i="0">
                <a:solidFill>
                  <a:srgbClr val="2D2D2D"/>
                </a:solidFill>
                <a:latin typeface="Arial"/>
              </a:rPr>
              <a:t>0.2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868680" y="4834563"/>
            <a:ext cx="4343400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32103" y="4425260"/>
            <a:ext cx="36577" cy="0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429768" y="4324676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 i="0">
                <a:solidFill>
                  <a:srgbClr val="2D2D2D"/>
                </a:solidFill>
                <a:latin typeface="Arial"/>
              </a:rPr>
              <a:t>0.4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868680" y="4425260"/>
            <a:ext cx="4343400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32103" y="4015957"/>
            <a:ext cx="36577" cy="0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429768" y="3915373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 i="0">
                <a:solidFill>
                  <a:srgbClr val="2D2D2D"/>
                </a:solidFill>
                <a:latin typeface="Arial"/>
              </a:rPr>
              <a:t>0.6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868680" y="4015957"/>
            <a:ext cx="4343400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68680" y="6062472"/>
            <a:ext cx="0" cy="36576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548640" y="6108192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2D2D2D"/>
                </a:solidFill>
                <a:latin typeface="Arial"/>
              </a:rPr>
              <a:t>1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1941755" y="6062472"/>
            <a:ext cx="0" cy="36576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1621715" y="6108192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2D2D2D"/>
                </a:solidFill>
                <a:latin typeface="Arial"/>
              </a:rPr>
              <a:t>64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3031863" y="6062472"/>
            <a:ext cx="0" cy="36576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2711823" y="6108192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2D2D2D"/>
                </a:solidFill>
                <a:latin typeface="Arial"/>
              </a:rPr>
              <a:t>128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4121971" y="6062472"/>
            <a:ext cx="0" cy="36576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3801931" y="6108192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2D2D2D"/>
                </a:solidFill>
                <a:latin typeface="Arial"/>
              </a:rPr>
              <a:t>192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5212080" y="6062472"/>
            <a:ext cx="0" cy="36576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4892040" y="6108192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2D2D2D"/>
                </a:solidFill>
                <a:latin typeface="Arial"/>
              </a:rPr>
              <a:t>256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943100" y="635508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0">
                <a:solidFill>
                  <a:srgbClr val="2D2D2D"/>
                </a:solidFill>
                <a:latin typeface="Arial"/>
              </a:rPr>
              <a:t>Motifs ranked by adjusted interaction</a:t>
            </a:r>
          </a:p>
        </p:txBody>
      </p:sp>
      <p:sp>
        <p:nvSpPr>
          <p:cNvPr id="108" name="TextBox 107"/>
          <p:cNvSpPr txBox="1"/>
          <p:nvPr/>
        </p:nvSpPr>
        <p:spPr>
          <a:xfrm rot="16200000">
            <a:off x="27431" y="4759452"/>
            <a:ext cx="731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0">
                <a:solidFill>
                  <a:srgbClr val="2D2D2D"/>
                </a:solidFill>
                <a:latin typeface="Arial"/>
              </a:rPr>
              <a:t>Centered log-odds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868680" y="5243866"/>
            <a:ext cx="4343400" cy="0"/>
          </a:xfrm>
          <a:prstGeom prst="line">
            <a:avLst/>
          </a:prstGeom>
          <a:ln w="10160">
            <a:solidFill>
              <a:srgbClr val="6464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818387" y="5822623"/>
            <a:ext cx="100584" cy="100584"/>
          </a:xfrm>
          <a:prstGeom prst="ellipse">
            <a:avLst/>
          </a:prstGeom>
          <a:solidFill>
            <a:srgbClr val="C0504D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869253" y="5850298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86286" y="5762538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03319" y="5747783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20352" y="5666752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937385" y="5654908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954418" y="5627905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71451" y="5604733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88484" y="5576077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005517" y="5535046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022550" y="5525958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039583" y="5518385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056616" y="5518009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073649" y="5515689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090681" y="5505898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07714" y="5494775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24747" y="5493307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141780" y="5485330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158813" y="5480737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75846" y="5462012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92879" y="5455521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209912" y="5451265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226945" y="5450131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243978" y="5449542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261011" y="5444306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278044" y="5444096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295077" y="5437558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312110" y="5419480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329143" y="5417454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346176" y="5411880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363209" y="5411064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380241" y="5410782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397274" y="5410359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414307" y="5410108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431340" y="5409508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448373" y="5403558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465406" y="5402334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482439" y="5402100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499472" y="5401156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516505" y="5400700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533538" y="5400590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550571" y="5397039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567604" y="5396427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584637" y="5396338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601670" y="5396302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618703" y="5395966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635736" y="5388506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652769" y="5388353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669801" y="5386296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686834" y="5385248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703867" y="5383060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720900" y="5380156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737933" y="5378626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754966" y="5376685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771999" y="5376443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789032" y="5376042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806065" y="5375630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823098" y="5375495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840131" y="5369869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857164" y="5365164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874197" y="5362571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891230" y="5359014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908263" y="5356310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925296" y="5353565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942329" y="5352376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959361" y="5352239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976394" y="5351360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993427" y="5351161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2010460" y="5349099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2027493" y="5343791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2044526" y="5343483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2061559" y="5336907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2078592" y="5336330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2095625" y="5335361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2112658" y="5331627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129691" y="5331496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2146724" y="5330270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2163757" y="5328663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2180790" y="5326318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2197823" y="5324317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2214856" y="5323664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2231889" y="5322282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2248921" y="5320083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2265954" y="5317577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2282987" y="5315341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2300020" y="5314214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2317053" y="5309141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2334086" y="5306049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2351119" y="5305014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2368152" y="5303775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2385185" y="5302864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2402218" y="5301802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2419251" y="5301460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2436284" y="5300543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2453317" y="5300186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2470350" y="5298531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2487383" y="5297704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2504416" y="5292595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2521449" y="5290505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2538481" y="5287028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2555514" y="5286286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2572547" y="5285708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2589580" y="5284276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2606613" y="5282211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2623646" y="5278041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2640679" y="5276052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2657712" y="5273135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2674745" y="5272057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2691778" y="5270435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2708811" y="5269846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2725844" y="5269693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2742877" y="5263668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2759910" y="5261167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2776943" y="5256709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2793976" y="5256304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2811009" y="5255636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828041" y="5254664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2845074" y="5254057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2862107" y="5251260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2879140" y="5249253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2896173" y="5246833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2913206" y="5245244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2930239" y="5243681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2947272" y="5242667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2964305" y="5242219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2981338" y="5241304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2998371" y="5240333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3015404" y="5239927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3032437" y="5238454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3049470" y="5237740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3066503" y="5235653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3083536" y="5235415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3100569" y="5235131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3117601" y="5235113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3134634" y="5234777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3151667" y="5233255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3168700" y="5233031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3185733" y="5228185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3202766" y="5223997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3219799" y="5223778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3236832" y="5223571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3253865" y="5223349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3270898" y="5223305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3287931" y="5220867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3304964" y="5219976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3321997" y="5217715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3339030" y="5215127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3356063" y="5214150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3373096" y="5214084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3390129" y="5213890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3407161" y="5209364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3424194" y="5204711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3441227" y="5204148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3458260" y="5203705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3475293" y="5200487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3492326" y="5200432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3509359" y="5200216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3526392" y="5198857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3543425" y="5196573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3560458" y="5196496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3577491" y="5194239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3594524" y="5193690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3611557" y="5192990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3628590" y="5192420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3645623" y="5191036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3662656" y="5188971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3679689" y="5188718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3696721" y="5187920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3713754" y="5187901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3730787" y="5182806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3747820" y="5180565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3764853" y="5177191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3781886" y="5177071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3798919" y="5176057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3815952" y="5175991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3832985" y="5175308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3850018" y="5172264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3867051" y="5172103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3884084" y="5170167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3901117" y="5166159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3918150" y="5163990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3935183" y="5160164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3952216" y="5158097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3969249" y="5156378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3986281" y="5156161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4003314" y="5153588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4020347" y="5149944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4037380" y="5149926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4054413" y="5149516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4071446" y="5148358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4088479" y="5144692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4105512" y="5144474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4122545" y="5144227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4139578" y="5140563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4156611" y="5140377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4173644" y="5139633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4190677" y="5136296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4207710" y="5136238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4224743" y="5132978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4241776" y="5129121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4258809" y="5126597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4275841" y="5124473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4292874" y="5124086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4309907" y="5108003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4326940" y="5107099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4343973" y="5106432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4361006" y="5105374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4378039" y="5103992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4395072" y="5101791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4412105" y="5100999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4429138" y="5100208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4446171" y="5100175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4463204" y="5098161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4480237" y="5092222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4497270" y="5089785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4514303" y="5087835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4531336" y="5085731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4548369" y="5084337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4565401" y="5082523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4582434" y="5077735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4599467" y="5075519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4616500" y="5046615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4633533" y="5045824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4650566" y="5035392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4667599" y="5034511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4684632" y="5017426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4701665" y="5015309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4718698" y="5008237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4735731" y="4999649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4752764" y="4991958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4769797" y="4987420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4786830" y="4962064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4803863" y="4947483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4820896" y="4943099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4837929" y="4938818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4854961" y="4913804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4871994" y="4903691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4889027" y="4892794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4906060" y="4883051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4923093" y="4853904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4940126" y="4843703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4957159" y="4823782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4974192" y="4787606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4991225" y="4785143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5008258" y="4775895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5025291" y="4739835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5042324" y="4724322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5059357" y="4722918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5076390" y="4720088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5093423" y="4716458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5110456" y="4689473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5127489" y="4642749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5144521" y="4620813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5161554" y="4588252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5178587" y="4577068"/>
            <a:ext cx="32918" cy="32918"/>
          </a:xfrm>
          <a:prstGeom prst="ellipse">
            <a:avLst/>
          </a:prstGeom>
          <a:solidFill>
            <a:srgbClr val="3668A4"/>
          </a:solidFill>
          <a:ln>
            <a:solidFill>
              <a:srgbClr val="3668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5161788" y="4073166"/>
            <a:ext cx="100584" cy="100584"/>
          </a:xfrm>
          <a:prstGeom prst="ellipse">
            <a:avLst/>
          </a:prstGeom>
          <a:solidFill>
            <a:srgbClr val="76923C"/>
          </a:solidFill>
          <a:ln>
            <a:solidFill>
              <a:srgbClr val="76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TextBox 365"/>
          <p:cNvSpPr txBox="1"/>
          <p:nvPr/>
        </p:nvSpPr>
        <p:spPr>
          <a:xfrm>
            <a:off x="960120" y="5900347"/>
            <a:ext cx="8229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C0504D"/>
                </a:solidFill>
                <a:latin typeface="Arial"/>
              </a:rPr>
              <a:t>ATCGAT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4434840" y="3867426"/>
            <a:ext cx="8229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76923C"/>
                </a:solidFill>
                <a:latin typeface="Arial"/>
              </a:rPr>
              <a:t>CGCGCG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2788920" y="3721608"/>
            <a:ext cx="2423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50" b="0" i="0">
                <a:solidFill>
                  <a:srgbClr val="646464"/>
                </a:solidFill>
                <a:latin typeface="Arial"/>
              </a:rPr>
              <a:t>Δdeviance = 17,753 (255 df)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5989320" y="3401568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Arial"/>
              </a:rPr>
              <a:t>D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6327648" y="3374136"/>
            <a:ext cx="5394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  <a:latin typeface="Arial"/>
              </a:rPr>
              <a:t>Sequence-selective remodeling persists within compartments</a:t>
            </a:r>
          </a:p>
        </p:txBody>
      </p:sp>
      <p:cxnSp>
        <p:nvCxnSpPr>
          <p:cNvPr id="371" name="Connector 370"/>
          <p:cNvCxnSpPr/>
          <p:nvPr/>
        </p:nvCxnSpPr>
        <p:spPr>
          <a:xfrm>
            <a:off x="6446520" y="6062472"/>
            <a:ext cx="4572000" cy="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6446520" y="3913632"/>
            <a:ext cx="0" cy="2148840"/>
          </a:xfrm>
          <a:prstGeom prst="line">
            <a:avLst/>
          </a:prstGeom>
          <a:ln w="1270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6409944" y="5999270"/>
            <a:ext cx="36576" cy="0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4" name="TextBox 373"/>
          <p:cNvSpPr txBox="1"/>
          <p:nvPr/>
        </p:nvSpPr>
        <p:spPr>
          <a:xfrm>
            <a:off x="6007608" y="5898686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 i="0">
                <a:solidFill>
                  <a:srgbClr val="2D2D2D"/>
                </a:solidFill>
                <a:latin typeface="Arial"/>
              </a:rPr>
              <a:t>-15</a:t>
            </a:r>
          </a:p>
        </p:txBody>
      </p:sp>
      <p:cxnSp>
        <p:nvCxnSpPr>
          <p:cNvPr id="375" name="Connector 374"/>
          <p:cNvCxnSpPr/>
          <p:nvPr/>
        </p:nvCxnSpPr>
        <p:spPr>
          <a:xfrm>
            <a:off x="6446520" y="5999270"/>
            <a:ext cx="4572000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>
            <a:off x="6409944" y="5683264"/>
            <a:ext cx="36576" cy="0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7" name="TextBox 376"/>
          <p:cNvSpPr txBox="1"/>
          <p:nvPr/>
        </p:nvSpPr>
        <p:spPr>
          <a:xfrm>
            <a:off x="6007608" y="5582680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 i="0">
                <a:solidFill>
                  <a:srgbClr val="2D2D2D"/>
                </a:solidFill>
                <a:latin typeface="Arial"/>
              </a:rPr>
              <a:t>-10</a:t>
            </a:r>
          </a:p>
        </p:txBody>
      </p:sp>
      <p:cxnSp>
        <p:nvCxnSpPr>
          <p:cNvPr id="378" name="Connector 377"/>
          <p:cNvCxnSpPr/>
          <p:nvPr/>
        </p:nvCxnSpPr>
        <p:spPr>
          <a:xfrm>
            <a:off x="6446520" y="5683264"/>
            <a:ext cx="4572000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6409944" y="5367259"/>
            <a:ext cx="36576" cy="0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0" name="TextBox 379"/>
          <p:cNvSpPr txBox="1"/>
          <p:nvPr/>
        </p:nvSpPr>
        <p:spPr>
          <a:xfrm>
            <a:off x="6007608" y="5266675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 i="0">
                <a:solidFill>
                  <a:srgbClr val="2D2D2D"/>
                </a:solidFill>
                <a:latin typeface="Arial"/>
              </a:rPr>
              <a:t>-5</a:t>
            </a:r>
          </a:p>
        </p:txBody>
      </p:sp>
      <p:cxnSp>
        <p:nvCxnSpPr>
          <p:cNvPr id="381" name="Connector 380"/>
          <p:cNvCxnSpPr/>
          <p:nvPr/>
        </p:nvCxnSpPr>
        <p:spPr>
          <a:xfrm>
            <a:off x="6446520" y="5367259"/>
            <a:ext cx="4572000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>
            <a:off x="6409944" y="5051253"/>
            <a:ext cx="36576" cy="0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3" name="TextBox 382"/>
          <p:cNvSpPr txBox="1"/>
          <p:nvPr/>
        </p:nvSpPr>
        <p:spPr>
          <a:xfrm>
            <a:off x="6007608" y="4950669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 i="0">
                <a:solidFill>
                  <a:srgbClr val="2D2D2D"/>
                </a:solidFill>
                <a:latin typeface="Arial"/>
              </a:rPr>
              <a:t>0</a:t>
            </a:r>
          </a:p>
        </p:txBody>
      </p:sp>
      <p:cxnSp>
        <p:nvCxnSpPr>
          <p:cNvPr id="384" name="Connector 383"/>
          <p:cNvCxnSpPr/>
          <p:nvPr/>
        </p:nvCxnSpPr>
        <p:spPr>
          <a:xfrm>
            <a:off x="6446520" y="5051253"/>
            <a:ext cx="4572000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>
            <a:off x="6409944" y="4735247"/>
            <a:ext cx="36576" cy="0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6" name="TextBox 385"/>
          <p:cNvSpPr txBox="1"/>
          <p:nvPr/>
        </p:nvSpPr>
        <p:spPr>
          <a:xfrm>
            <a:off x="6007608" y="4634663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 i="0">
                <a:solidFill>
                  <a:srgbClr val="2D2D2D"/>
                </a:solidFill>
                <a:latin typeface="Arial"/>
              </a:rPr>
              <a:t>5</a:t>
            </a:r>
          </a:p>
        </p:txBody>
      </p:sp>
      <p:cxnSp>
        <p:nvCxnSpPr>
          <p:cNvPr id="387" name="Connector 386"/>
          <p:cNvCxnSpPr/>
          <p:nvPr/>
        </p:nvCxnSpPr>
        <p:spPr>
          <a:xfrm>
            <a:off x="6446520" y="4735247"/>
            <a:ext cx="4572000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>
            <a:off x="6409944" y="4419241"/>
            <a:ext cx="36576" cy="0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9" name="TextBox 388"/>
          <p:cNvSpPr txBox="1"/>
          <p:nvPr/>
        </p:nvSpPr>
        <p:spPr>
          <a:xfrm>
            <a:off x="6007608" y="4318657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 i="0">
                <a:solidFill>
                  <a:srgbClr val="2D2D2D"/>
                </a:solidFill>
                <a:latin typeface="Arial"/>
              </a:rPr>
              <a:t>10</a:t>
            </a:r>
          </a:p>
        </p:txBody>
      </p:sp>
      <p:cxnSp>
        <p:nvCxnSpPr>
          <p:cNvPr id="390" name="Connector 389"/>
          <p:cNvCxnSpPr/>
          <p:nvPr/>
        </p:nvCxnSpPr>
        <p:spPr>
          <a:xfrm>
            <a:off x="6446520" y="4419241"/>
            <a:ext cx="4572000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>
            <a:off x="6409944" y="4103235"/>
            <a:ext cx="36576" cy="0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2" name="TextBox 391"/>
          <p:cNvSpPr txBox="1"/>
          <p:nvPr/>
        </p:nvSpPr>
        <p:spPr>
          <a:xfrm>
            <a:off x="6007608" y="4002651"/>
            <a:ext cx="365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 i="0">
                <a:solidFill>
                  <a:srgbClr val="2D2D2D"/>
                </a:solidFill>
                <a:latin typeface="Arial"/>
              </a:rPr>
              <a:t>15</a:t>
            </a:r>
          </a:p>
        </p:txBody>
      </p:sp>
      <p:cxnSp>
        <p:nvCxnSpPr>
          <p:cNvPr id="393" name="Connector 392"/>
          <p:cNvCxnSpPr/>
          <p:nvPr/>
        </p:nvCxnSpPr>
        <p:spPr>
          <a:xfrm>
            <a:off x="6446520" y="4103235"/>
            <a:ext cx="4572000" cy="0"/>
          </a:xfrm>
          <a:prstGeom prst="line">
            <a:avLst/>
          </a:prstGeom>
          <a:ln w="635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>
            <a:off x="6827520" y="6062472"/>
            <a:ext cx="0" cy="36576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5" name="TextBox 394"/>
          <p:cNvSpPr txBox="1"/>
          <p:nvPr/>
        </p:nvSpPr>
        <p:spPr>
          <a:xfrm>
            <a:off x="6507480" y="6108192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2D2D2D"/>
                </a:solidFill>
                <a:latin typeface="Arial"/>
              </a:rPr>
              <a:t>CGI</a:t>
            </a:r>
          </a:p>
        </p:txBody>
      </p:sp>
      <p:cxnSp>
        <p:nvCxnSpPr>
          <p:cNvPr id="396" name="Connector 395"/>
          <p:cNvCxnSpPr/>
          <p:nvPr/>
        </p:nvCxnSpPr>
        <p:spPr>
          <a:xfrm>
            <a:off x="7589520" y="6062472"/>
            <a:ext cx="0" cy="36576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7" name="TextBox 396"/>
          <p:cNvSpPr txBox="1"/>
          <p:nvPr/>
        </p:nvSpPr>
        <p:spPr>
          <a:xfrm>
            <a:off x="7269480" y="6108192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2D2D2D"/>
                </a:solidFill>
                <a:latin typeface="Arial"/>
              </a:rPr>
              <a:t>Promoter</a:t>
            </a:r>
          </a:p>
        </p:txBody>
      </p:sp>
      <p:cxnSp>
        <p:nvCxnSpPr>
          <p:cNvPr id="398" name="Connector 397"/>
          <p:cNvCxnSpPr/>
          <p:nvPr/>
        </p:nvCxnSpPr>
        <p:spPr>
          <a:xfrm>
            <a:off x="8351520" y="6062472"/>
            <a:ext cx="0" cy="36576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9" name="TextBox 398"/>
          <p:cNvSpPr txBox="1"/>
          <p:nvPr/>
        </p:nvSpPr>
        <p:spPr>
          <a:xfrm>
            <a:off x="8031480" y="6108192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2D2D2D"/>
                </a:solidFill>
                <a:latin typeface="Arial"/>
              </a:rPr>
              <a:t>CDS</a:t>
            </a:r>
          </a:p>
        </p:txBody>
      </p:sp>
      <p:cxnSp>
        <p:nvCxnSpPr>
          <p:cNvPr id="400" name="Connector 399"/>
          <p:cNvCxnSpPr/>
          <p:nvPr/>
        </p:nvCxnSpPr>
        <p:spPr>
          <a:xfrm>
            <a:off x="9113520" y="6062472"/>
            <a:ext cx="0" cy="36576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1" name="TextBox 400"/>
          <p:cNvSpPr txBox="1"/>
          <p:nvPr/>
        </p:nvSpPr>
        <p:spPr>
          <a:xfrm>
            <a:off x="8793480" y="6108192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2D2D2D"/>
                </a:solidFill>
                <a:latin typeface="Arial"/>
              </a:rPr>
              <a:t>nc exon</a:t>
            </a:r>
          </a:p>
        </p:txBody>
      </p:sp>
      <p:cxnSp>
        <p:nvCxnSpPr>
          <p:cNvPr id="402" name="Connector 401"/>
          <p:cNvCxnSpPr/>
          <p:nvPr/>
        </p:nvCxnSpPr>
        <p:spPr>
          <a:xfrm>
            <a:off x="9875520" y="6062472"/>
            <a:ext cx="0" cy="36576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3" name="TextBox 402"/>
          <p:cNvSpPr txBox="1"/>
          <p:nvPr/>
        </p:nvSpPr>
        <p:spPr>
          <a:xfrm>
            <a:off x="9555480" y="6108192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2D2D2D"/>
                </a:solidFill>
                <a:latin typeface="Arial"/>
              </a:rPr>
              <a:t>Other genic</a:t>
            </a:r>
          </a:p>
        </p:txBody>
      </p:sp>
      <p:cxnSp>
        <p:nvCxnSpPr>
          <p:cNvPr id="404" name="Connector 403"/>
          <p:cNvCxnSpPr/>
          <p:nvPr/>
        </p:nvCxnSpPr>
        <p:spPr>
          <a:xfrm>
            <a:off x="10637520" y="6062472"/>
            <a:ext cx="0" cy="36576"/>
          </a:xfrm>
          <a:prstGeom prst="line">
            <a:avLst/>
          </a:prstGeom>
          <a:ln w="1016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5" name="TextBox 404"/>
          <p:cNvSpPr txBox="1"/>
          <p:nvPr/>
        </p:nvSpPr>
        <p:spPr>
          <a:xfrm>
            <a:off x="10317480" y="6108192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 i="0">
                <a:solidFill>
                  <a:srgbClr val="2D2D2D"/>
                </a:solidFill>
                <a:latin typeface="Arial"/>
              </a:rPr>
              <a:t>Intergenic</a:t>
            </a:r>
          </a:p>
        </p:txBody>
      </p:sp>
      <p:sp>
        <p:nvSpPr>
          <p:cNvPr id="406" name="TextBox 405"/>
          <p:cNvSpPr txBox="1"/>
          <p:nvPr/>
        </p:nvSpPr>
        <p:spPr>
          <a:xfrm rot="16200000">
            <a:off x="5605272" y="4759452"/>
            <a:ext cx="731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0">
                <a:solidFill>
                  <a:srgbClr val="2D2D2D"/>
                </a:solidFill>
                <a:latin typeface="Arial"/>
              </a:rPr>
              <a:t>Relative change (pp)</a:t>
            </a:r>
          </a:p>
        </p:txBody>
      </p:sp>
      <p:cxnSp>
        <p:nvCxnSpPr>
          <p:cNvPr id="407" name="Connector 406"/>
          <p:cNvCxnSpPr/>
          <p:nvPr/>
        </p:nvCxnSpPr>
        <p:spPr>
          <a:xfrm>
            <a:off x="6446520" y="5051253"/>
            <a:ext cx="4572000" cy="0"/>
          </a:xfrm>
          <a:prstGeom prst="line">
            <a:avLst/>
          </a:prstGeom>
          <a:ln w="1016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8" name="Rectangle 407"/>
          <p:cNvSpPr/>
          <p:nvPr/>
        </p:nvSpPr>
        <p:spPr>
          <a:xfrm>
            <a:off x="6614160" y="4791032"/>
            <a:ext cx="182880" cy="260220"/>
          </a:xfrm>
          <a:prstGeom prst="rect">
            <a:avLst/>
          </a:prstGeom>
          <a:solidFill>
            <a:srgbClr val="76923C"/>
          </a:solidFill>
          <a:ln>
            <a:solidFill>
              <a:srgbClr val="76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6858000" y="4977866"/>
            <a:ext cx="182880" cy="73386"/>
          </a:xfrm>
          <a:prstGeom prst="rect">
            <a:avLst/>
          </a:prstGeom>
          <a:solidFill>
            <a:srgbClr val="C0504D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7376160" y="4879812"/>
            <a:ext cx="182880" cy="171440"/>
          </a:xfrm>
          <a:prstGeom prst="rect">
            <a:avLst/>
          </a:prstGeom>
          <a:solidFill>
            <a:srgbClr val="76923C"/>
          </a:solidFill>
          <a:ln>
            <a:solidFill>
              <a:srgbClr val="76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7620000" y="5051253"/>
            <a:ext cx="182880" cy="884483"/>
          </a:xfrm>
          <a:prstGeom prst="rect">
            <a:avLst/>
          </a:prstGeom>
          <a:solidFill>
            <a:srgbClr val="C0504D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8138160" y="4787485"/>
            <a:ext cx="182880" cy="263767"/>
          </a:xfrm>
          <a:prstGeom prst="rect">
            <a:avLst/>
          </a:prstGeom>
          <a:solidFill>
            <a:srgbClr val="76923C"/>
          </a:solidFill>
          <a:ln>
            <a:solidFill>
              <a:srgbClr val="76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8381999" y="5051253"/>
            <a:ext cx="182880" cy="370290"/>
          </a:xfrm>
          <a:prstGeom prst="rect">
            <a:avLst/>
          </a:prstGeom>
          <a:solidFill>
            <a:srgbClr val="C0504D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900160" y="4526109"/>
            <a:ext cx="182880" cy="525143"/>
          </a:xfrm>
          <a:prstGeom prst="rect">
            <a:avLst/>
          </a:prstGeom>
          <a:solidFill>
            <a:srgbClr val="76923C"/>
          </a:solidFill>
          <a:ln>
            <a:solidFill>
              <a:srgbClr val="76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9144000" y="5051253"/>
            <a:ext cx="182880" cy="498428"/>
          </a:xfrm>
          <a:prstGeom prst="rect">
            <a:avLst/>
          </a:prstGeom>
          <a:solidFill>
            <a:srgbClr val="C0504D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9662160" y="4338075"/>
            <a:ext cx="182880" cy="713177"/>
          </a:xfrm>
          <a:prstGeom prst="rect">
            <a:avLst/>
          </a:prstGeom>
          <a:solidFill>
            <a:srgbClr val="76923C"/>
          </a:solidFill>
          <a:ln>
            <a:solidFill>
              <a:srgbClr val="76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9906000" y="5051253"/>
            <a:ext cx="182880" cy="384499"/>
          </a:xfrm>
          <a:prstGeom prst="rect">
            <a:avLst/>
          </a:prstGeom>
          <a:solidFill>
            <a:srgbClr val="C0504D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10424160" y="4084054"/>
            <a:ext cx="182880" cy="967198"/>
          </a:xfrm>
          <a:prstGeom prst="rect">
            <a:avLst/>
          </a:prstGeom>
          <a:solidFill>
            <a:srgbClr val="76923C"/>
          </a:solidFill>
          <a:ln>
            <a:solidFill>
              <a:srgbClr val="76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10668000" y="5051253"/>
            <a:ext cx="182880" cy="347736"/>
          </a:xfrm>
          <a:prstGeom prst="rect">
            <a:avLst/>
          </a:prstGeom>
          <a:solidFill>
            <a:srgbClr val="C0504D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9326880" y="3767328"/>
            <a:ext cx="164592" cy="91440"/>
          </a:xfrm>
          <a:prstGeom prst="rect">
            <a:avLst/>
          </a:prstGeom>
          <a:solidFill>
            <a:srgbClr val="76923C"/>
          </a:solidFill>
          <a:ln>
            <a:solidFill>
              <a:srgbClr val="76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TextBox 420"/>
          <p:cNvSpPr txBox="1"/>
          <p:nvPr/>
        </p:nvSpPr>
        <p:spPr>
          <a:xfrm>
            <a:off x="9528048" y="3675887"/>
            <a:ext cx="777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 i="0">
                <a:solidFill>
                  <a:srgbClr val="2D2D2D"/>
                </a:solidFill>
                <a:latin typeface="Arial"/>
              </a:rPr>
              <a:t>CGCGCG</a:t>
            </a:r>
          </a:p>
        </p:txBody>
      </p:sp>
      <p:sp>
        <p:nvSpPr>
          <p:cNvPr id="422" name="Rectangle 421"/>
          <p:cNvSpPr/>
          <p:nvPr/>
        </p:nvSpPr>
        <p:spPr>
          <a:xfrm>
            <a:off x="10195560" y="3767328"/>
            <a:ext cx="164592" cy="91440"/>
          </a:xfrm>
          <a:prstGeom prst="rect">
            <a:avLst/>
          </a:prstGeom>
          <a:solidFill>
            <a:srgbClr val="C0504D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TextBox 422"/>
          <p:cNvSpPr txBox="1"/>
          <p:nvPr/>
        </p:nvSpPr>
        <p:spPr>
          <a:xfrm>
            <a:off x="10396728" y="3675887"/>
            <a:ext cx="685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 i="0">
                <a:solidFill>
                  <a:srgbClr val="2D2D2D"/>
                </a:solidFill>
                <a:latin typeface="Arial"/>
              </a:rPr>
              <a:t>ATCGAT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